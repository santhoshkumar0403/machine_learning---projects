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Natural Gas Price Forecast &amp; Storage 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McKinsey / BCG Style Analysis</a:t>
            </a:r>
          </a:p>
          <a:p/>
          <a:p>
            <a:r>
              <a:t>Santosh Kumar | Data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Natural gas prices show strong seasonal behavior</a:t>
            </a:r>
          </a:p>
          <a:p>
            <a:pPr/>
            <a:r>
              <a:t>Holt-Winters model captures trend and seasonality</a:t>
            </a:r>
          </a:p>
          <a:p>
            <a:pPr/>
            <a:r>
              <a:t>Forecast enables informed long-term storage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Monthly end-of-month natural gas prices</a:t>
            </a:r>
          </a:p>
          <a:p>
            <a:pPr/>
            <a:r>
              <a:t>Period: Oct 2020 – Sep 2024</a:t>
            </a:r>
          </a:p>
          <a:p>
            <a:pPr/>
            <a:r>
              <a:t>Represents physical delivery market prices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Observations from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High volatility during global energy disruptions</a:t>
            </a:r>
          </a:p>
          <a:p>
            <a:pPr/>
            <a:r>
              <a:t>Recurring winter price spikes</a:t>
            </a:r>
          </a:p>
          <a:p>
            <a:pPr/>
            <a:r>
              <a:t>Mean reversion over long horizon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Seasonality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Winter demand drives price premiums</a:t>
            </a:r>
          </a:p>
          <a:p>
            <a:pPr/>
            <a:r>
              <a:t>Summer months exhibit relative price softness</a:t>
            </a:r>
          </a:p>
          <a:p>
            <a:pPr/>
            <a:r>
              <a:t>Storage availability smooths volatility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Selection Rationale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Holt-Winters Exponential Smoothing</a:t>
            </a:r>
          </a:p>
          <a:p>
            <a:pPr/>
            <a:r>
              <a:t>Separates level, trend, and seasonality</a:t>
            </a:r>
          </a:p>
          <a:p>
            <a:pPr/>
            <a:r>
              <a:t>Robust for short to medium-term forecasting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Intuition (Simplified)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Level: average price at time t</a:t>
            </a:r>
          </a:p>
          <a:p>
            <a:pPr/>
            <a:r>
              <a:t>Trend: directional movement over time</a:t>
            </a:r>
          </a:p>
          <a:p>
            <a:pPr/>
            <a:r>
              <a:t>Seasonality: repeating monthly effects</a:t>
            </a:r>
          </a:p>
          <a:p>
            <a:pPr/>
            <a:r>
              <a:t>Forecast = Level + Trend + Seasonality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12-month forward price curve generated</a:t>
            </a:r>
          </a:p>
          <a:p>
            <a:pPr/>
            <a:r>
              <a:t>Used for indicative contract pricing</a:t>
            </a:r>
          </a:p>
          <a:p>
            <a:pPr/>
            <a:r>
              <a:t>Not intended for intraday trading decisions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Storage Contract Valuation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Buy gas in low-price months</a:t>
            </a:r>
          </a:p>
          <a:p>
            <a:pPr/>
            <a:r>
              <a:t>Store and sell during high-price periods</a:t>
            </a:r>
          </a:p>
          <a:p>
            <a:pPr/>
            <a:r>
              <a:t>Value = (Future Sell Price - Purchase Price) × Volume - Storage Costs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Illustrative Storage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Purchase gas during summer lows</a:t>
            </a:r>
          </a:p>
          <a:p>
            <a:pPr/>
            <a:r>
              <a:t>Withdraw during winter peak</a:t>
            </a:r>
          </a:p>
          <a:p>
            <a:pPr/>
            <a:r>
              <a:t>Forecast curve enables expected margin estimation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Risk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 macroeconomic shocks modeled</a:t>
            </a:r>
          </a:p>
          <a:p>
            <a:pPr/>
            <a:r>
              <a:t>Geopolitical and supply risks excluded</a:t>
            </a:r>
          </a:p>
          <a:p>
            <a:pPr/>
            <a:r>
              <a:t>Forecast assumes historical patterns persist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Incorporate SARIMA / Prophet</a:t>
            </a:r>
          </a:p>
          <a:p>
            <a:pPr/>
            <a:r>
              <a:t>Add LNG supply &amp; demand indicators</a:t>
            </a:r>
          </a:p>
          <a:p>
            <a:pPr/>
            <a:r>
              <a:t>Monte Carlo simulation for risk-adjusted valuation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Seasonality is the dominant driver</a:t>
            </a:r>
          </a:p>
          <a:p>
            <a:pPr/>
            <a:r>
              <a:t>Model provides reliable pricing intuition</a:t>
            </a:r>
          </a:p>
          <a:p>
            <a:pPr/>
            <a:r>
              <a:t>Framework suitable for strategic storage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